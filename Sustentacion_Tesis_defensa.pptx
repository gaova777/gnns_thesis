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Presentacion de la tesis. Estudiamos la ESTABILIDAD de las explicaciones XAI sobre GNNs para deteccion de lavado de dinero (dataset Elliptic) bajo desbalance extremo.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Distincion clave que estructura toda la tesis: estabilidad != plausibilidad != fidelidad. Resultado empirico, no 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dos ejes son complementarios: Elliptic da validez externa; el sintetico da validez interna con ground-truth, indispensable para plausibilidad/fidelidad.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dos artefactos daban rankings de arquitectura contradictorios. Corregidos, la historia se vuelve coherente. Es la contribucion metodologica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Hallazgo estrella del eje sintetico. PGExplainer gana plausibilidad con p=2.6e-35 pero pierde fidelidad. Prueba de que las dimensiones se disocian.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955279" y="3383280"/>
            <a:ext cx="1056133" cy="57607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955279" y="3959352"/>
            <a:ext cx="672084" cy="134416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11412" y="3383280"/>
            <a:ext cx="288036" cy="1248156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11412" y="3383280"/>
            <a:ext cx="1344168" cy="672084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299448" y="4055364"/>
            <a:ext cx="1056132" cy="57607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99448" y="4631436"/>
            <a:ext cx="768096" cy="57607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55580" y="4055364"/>
            <a:ext cx="864108" cy="86410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627363" y="5207508"/>
            <a:ext cx="1440181" cy="9601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067544" y="4055364"/>
            <a:ext cx="288036" cy="1152144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799831" y="3803904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92540" y="3264408"/>
            <a:ext cx="237744" cy="23774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0576" y="451256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00132" y="3899916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8672" y="508863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8491" y="5184648"/>
            <a:ext cx="237744" cy="23774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64240" y="4764024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9A23B"/>
                </a:solidFill>
                <a:latin typeface="Calibri"/>
              </a:rPr>
              <a:t>UNIVERSIDAD TECNOLÓGICA DE PEREIRA  ·  MAESTRÍA EN INGENIERÍA EN SISTEMAS Y COMPUTACIÓN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54480"/>
            <a:ext cx="10424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Estabilidad de Métodos de Explicabilidad (XAI) en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Graph Neural Networks para la Detección de Lavado</a:t>
            </a:r>
          </a:p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de Dinero bajo Desbalance Extremo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457200" cy="457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Alejandro Gómez Huertas   ·   Juan Diego Garzón Ovalle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4D6EA"/>
                </a:solidFill>
                <a:latin typeface="Calibri"/>
              </a:rPr>
              <a:t>Director:  Ph.D. Cristian Rosero Arias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Pereira, Colombia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Contenido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727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 i="0">
                <a:solidFill>
                  <a:srgbClr val="15263D"/>
                </a:solidFill>
                <a:latin typeface="Calibri"/>
              </a:rPr>
              <a:t>Problema y motivación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Detección de lavado y la opacidad de las GNN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32888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05456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 i="0">
                <a:solidFill>
                  <a:srgbClr val="15263D"/>
                </a:solidFill>
                <a:latin typeface="Calibri"/>
              </a:rPr>
              <a:t>Pregunta y objetivos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Qué buscamos responder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65576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38144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 i="0">
                <a:solidFill>
                  <a:srgbClr val="15263D"/>
                </a:solidFill>
                <a:latin typeface="Calibri"/>
              </a:rPr>
              <a:t>Metodología: dos ejes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Elliptic real + grafo sintético con ground-truth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98264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708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 i="0">
                <a:solidFill>
                  <a:srgbClr val="15263D"/>
                </a:solidFill>
                <a:latin typeface="Calibri"/>
              </a:rPr>
              <a:t>Resultados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Estabilidad, plausibilidad, fidelidad y sus relaciones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3095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035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 i="0">
                <a:solidFill>
                  <a:srgbClr val="15263D"/>
                </a:solidFill>
                <a:latin typeface="Calibri"/>
              </a:rPr>
              <a:t>Conclusiones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Aportes, límites y trabajo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El problema: detectar lavado sin caja negra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636776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5263D"/>
                </a:solidFill>
                <a:latin typeface="Calibri"/>
              </a:rPr>
              <a:t>Escala y ruido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El lavado mueve 2–5% del PIB mundial; los sistemas por reglas generan 95–98% de falsos positivos.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54096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5263D"/>
                </a:solidFill>
                <a:latin typeface="Calibri"/>
              </a:rPr>
              <a:t>Las GNN ayudan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Modelan las transacciones como un grafo y capturan patrones relacionales que lo tabular ignora.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471416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5263D"/>
                </a:solidFill>
                <a:latin typeface="Calibri"/>
              </a:rPr>
              <a:t>…pero son opacas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En un entorno regulado, cada alerta debe ser justificable y reproducible ante auditores.</a:t>
            </a:r>
          </a:p>
        </p:txBody>
      </p:sp>
      <p:pic>
        <p:nvPicPr>
          <p:cNvPr id="11" name="Picture 10" descr="enfoques_moeny_laund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7316"/>
            <a:ext cx="4846320" cy="26434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Pregunta de investigación y objetivos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15263D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1">
                <a:solidFill>
                  <a:srgbClr val="FFFFFF"/>
                </a:solidFill>
                <a:latin typeface="Calibri"/>
              </a:rPr>
              <a:t>¿Cómo se comporta la estabilidad de los métodos XAI sobre GNNs para AML bajo desbalance, y qué combinación de arquitectura, explicador y balanceo optimiza la interpretación robusta y auditable?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342900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15263D"/>
                </a:solidFill>
                <a:latin typeface="Cambria"/>
              </a:rPr>
              <a:t>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33756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B2733"/>
                </a:solidFill>
                <a:latin typeface="Calibri"/>
              </a:rPr>
              <a:t>Cuantificar la degradación de la estabilidad al aumentar el desbalance.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54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342900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15263D"/>
                </a:solidFill>
                <a:latin typeface="Cambria"/>
              </a:rPr>
              <a:t>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33756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B2733"/>
                </a:solidFill>
                <a:latin typeface="Calibri"/>
              </a:rPr>
              <a:t>Comparar la resiliencia de GCN, GraphSAGE, GAT y TAGCN.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489204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15263D"/>
                </a:solidFill>
                <a:latin typeface="Cambria"/>
              </a:rPr>
              <a:t>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80060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B2733"/>
                </a:solidFill>
                <a:latin typeface="Calibri"/>
              </a:rPr>
              <a:t>Evaluar el impacto de las estrategias de balanceo.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489204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15263D"/>
                </a:solidFill>
                <a:latin typeface="Cambria"/>
              </a:rPr>
              <a:t>O4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80060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B2733"/>
                </a:solidFill>
                <a:latin typeface="Calibri"/>
              </a:rPr>
              <a:t>Construir una matriz de recomendación arquitectura–explicador–balanceo.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La brecha en el estado del arte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7293"/>
                </a:solidFill>
                <a:latin typeface="Cambria"/>
              </a:rPr>
              <a:t>Lo que ya se sabía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709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Las GNN superan a lo tabular en Elliptic (Weber 2019).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TAGCN + SHAP reportan alto rendimiento (He 2026).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Predicción y explicabilidad se estudian por separado.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Los explicadores pueden violar estabilidad y fidelidad (Agarwal 2022).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02336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A23B"/>
                </a:solidFill>
                <a:latin typeface="Cambria"/>
              </a:rPr>
              <a:t>Lo que faltaba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709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La ESTABILIDAD de las explicaciones sobre grafos AML no se había evaluado de forma sistemática.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Bajo desbalance extremo el problema se agrava y no estaba caracterizado.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Elliptic no tiene ground-truth de tipología → la plausibilidad no era medible.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Marco: redes de grafos y explicabilidad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63D"/>
                </a:solidFill>
                <a:latin typeface="Cambria"/>
              </a:rPr>
              <a:t>4 arquitecturas GNN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7293"/>
                </a:solidFill>
                <a:latin typeface="Calibri"/>
              </a:rPr>
              <a:t>GCN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convolución espectral, 1 salto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7293"/>
                </a:solidFill>
                <a:latin typeface="Calibri"/>
              </a:rPr>
              <a:t>GraphSAGE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muestreo + agregación inductiva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7293"/>
                </a:solidFill>
                <a:latin typeface="Calibri"/>
              </a:rPr>
              <a:t>GAT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atención multi-cabeza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7293"/>
                </a:solidFill>
                <a:latin typeface="Calibri"/>
              </a:rPr>
              <a:t>TAGCN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filtros polinómicos de orden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63D"/>
                </a:solidFill>
                <a:latin typeface="Cambria"/>
              </a:rPr>
              <a:t>3 explicadores XAI (post-hoc)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9A23B"/>
                </a:solidFill>
                <a:latin typeface="Calibri"/>
              </a:rPr>
              <a:t>GNNExplainer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optimiza una máscara por instancia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6118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9A23B"/>
                </a:solidFill>
                <a:latin typeface="Calibri"/>
              </a:rPr>
              <a:t>PGExplainer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red generativa entrenada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177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9A23B"/>
                </a:solidFill>
                <a:latin typeface="Calibri"/>
              </a:rPr>
              <a:t>GNNShap  </a:t>
            </a:r>
            <a:r>
              <a:rPr sz="1350" b="0" i="0">
                <a:solidFill>
                  <a:srgbClr val="1B2733"/>
                </a:solidFill>
                <a:latin typeface="Calibri"/>
              </a:rPr>
              <a:t>valores de Shapley por muestreo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Tres propiedades que no son lo mismo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01168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5263D"/>
                </a:solidFill>
                <a:latin typeface="Cambria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C7293"/>
                </a:solidFill>
                <a:latin typeface="Cambria"/>
              </a:rPr>
              <a:t>Estabilidad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¿La explicación se reproduce entre semillas y perturbaciones?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73736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1" y="2011680"/>
            <a:ext cx="640080" cy="6400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5263D"/>
                </a:solidFill>
                <a:latin typeface="Cambria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8803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9D8F"/>
                </a:solidFill>
                <a:latin typeface="Cambria"/>
              </a:rPr>
              <a:t>Plausibilidad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34290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¿Señala el patrón real de lavado (ground-truth)?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73736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5904" y="2011680"/>
            <a:ext cx="640080" cy="64008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5263D"/>
                </a:solidFill>
                <a:latin typeface="Cambria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88036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A23B"/>
                </a:solidFill>
                <a:latin typeface="Cambria"/>
              </a:rPr>
              <a:t>Fidelidad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42900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¿Refleja de verdad la decisión interna del modelo?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9A23B"/>
                </a:solidFill>
                <a:latin typeface="Calibri"/>
              </a:rPr>
              <a:t>Tesis central: 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las tres son empíricamente independientes — un explicador puede tener una y no las otras.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Metodología: un diseño de dos ejes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7293"/>
                </a:solidFill>
                <a:latin typeface="Cambria"/>
              </a:rPr>
              <a:t>Eje 1 · Elliptic (datos reales)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709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Validez EXTERNA: transacciones reales de Bitcoin.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Sin ground-truth de tipología → solo permite medir estabilidad.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Campo receptivo minúsculo (mediana ~2 nodos).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02336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A23B"/>
                </a:solidFill>
                <a:latin typeface="Cambria"/>
              </a:rPr>
              <a:t>Eje 2 · Grafo sintético (propio)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60320"/>
            <a:ext cx="4709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Validez INTERNA: ground-truth por nodo y arista.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Permite medir plausibilidad y fidelidad.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4 tipologías estándar de lavado; 3 realizaciones.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Diseño factorial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Arquitecturas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9202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9A23B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7889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Explicadores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73736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9202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A9D8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7889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Balanceos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173736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0536" y="19202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9534F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278892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Escenarios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5263D"/>
                </a:solidFill>
                <a:latin typeface="Calibri"/>
              </a:rPr>
              <a:t>= 60 configuraciones por eje</a:t>
            </a:r>
            <a:r>
              <a:rPr sz="1500" b="0" i="0">
                <a:solidFill>
                  <a:srgbClr val="63748A"/>
                </a:solidFill>
                <a:latin typeface="Calibri"/>
              </a:rPr>
              <a:t>    × 3 explicadores para el estudio de estabilidad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11094415" cy="141732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62895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Protocolo de robustez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Estabilidad: </a:t>
            </a:r>
            <a:r>
              <a:rPr sz="1400" b="0" i="0">
                <a:solidFill>
                  <a:srgbClr val="C4D6EA"/>
                </a:solidFill>
                <a:latin typeface="Calibri"/>
              </a:rPr>
              <a:t>5 réplicas estocásticas por explicación. 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Inferencia (eje sintético): </a:t>
            </a:r>
            <a:r>
              <a:rPr sz="1400" b="0" i="0">
                <a:solidFill>
                  <a:srgbClr val="C4D6EA"/>
                </a:solidFill>
                <a:latin typeface="Calibri"/>
              </a:rPr>
              <a:t>3 semillas de modelo × 3 grafos, con Kruskal-Wallis, Wilcoxon e IC bootstrap.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Eje 1 — Elliptic Bitcoin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203.769 nodos · 234.355 aristas · 166 features · 49 pasos temporales.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Ilícitas ~2,2% del total (razón ~1:9 en el subconjunto etiquetado).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Split temporal causal (train 1–34 / val 35–42 / test 43–49).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Campo receptivo minúsculo (mediana ~2 nodos) → el Jaccard satura y solo el Spearman discrimina.</a:t>
            </a:r>
          </a:p>
        </p:txBody>
      </p:sp>
      <p:pic>
        <p:nvPicPr>
          <p:cNvPr id="6" name="Picture 5" descr="dispersion_ellip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99161"/>
            <a:ext cx="5212080" cy="3299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Eje 2 — grafo sintético con ground-truth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¿Por qué?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medir plausibilidad exige saber cuál subgrafo es el patrón — Elliptic no lo da.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4 tipologías estándar: structuring, layering, fan-in, fan-out.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Aristas distractoras y firma de features atenuada → la métrica discrimina de verdad.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Ground-truth ciego al explicador; 3 realizaciones del grafo.</a:t>
            </a:r>
          </a:p>
        </p:txBody>
      </p:sp>
      <p:pic>
        <p:nvPicPr>
          <p:cNvPr id="6" name="Picture 5" descr="hallazgo_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64908"/>
            <a:ext cx="5212080" cy="3768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Métricas y protocolo estadístico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02536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63D"/>
                </a:solidFill>
                <a:latin typeface="Calibri"/>
              </a:rPr>
              <a:t>Estabilidad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7436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Correlación de Spearman entre rankings de features (métrica primaria).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9192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99008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79192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63D"/>
                </a:solidFill>
                <a:latin typeface="Calibri"/>
              </a:rPr>
              <a:t>Plausibilidad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79192"/>
            <a:ext cx="7436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Coincidencia de la explicación con el ground-truth de la tipología.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66744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977639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66744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63D"/>
                </a:solidFill>
                <a:latin typeface="Calibri"/>
              </a:rPr>
              <a:t>Fidelidad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666744"/>
            <a:ext cx="7436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Caída de la predicción al retirar lo que el explicador marca como importante.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96519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54296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263D"/>
                </a:solidFill>
                <a:latin typeface="Calibri"/>
              </a:rPr>
              <a:t>Rendimiento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654296"/>
            <a:ext cx="7436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PR-AUC como métrica primaria (el F1 en umbral es degenerado bajo desbalance).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Contribución: dos artefactos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011680"/>
            <a:ext cx="658368" cy="65836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9A23B"/>
                </a:solidFill>
                <a:latin typeface="Cambria"/>
              </a:rPr>
              <a:t>Fallo de memoria silencioso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Calcular sobre el grafo completo agotaba la memoria en GAT; 13 configuraciones fallaban en silencio → favorecía a GAT.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2011680"/>
            <a:ext cx="658368" cy="65836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8036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9A23B"/>
                </a:solidFill>
                <a:latin typeface="Cambria"/>
              </a:rPr>
              <a:t>Truncamiento en el Spearman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4D6EA"/>
                </a:solidFill>
                <a:latin typeface="Calibri"/>
              </a:rPr>
              <a:t>La métrica descartaba features fuera del umbral → rankings mutilados → favorecía a GraphSAGE.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Cada uno bastaba para una conclusión comparativa falsa.  </a:t>
            </a:r>
            <a:r>
              <a:rPr sz="1550" b="0" i="1">
                <a:solidFill>
                  <a:srgbClr val="E9A23B"/>
                </a:solidFill>
                <a:latin typeface="Calibri"/>
              </a:rPr>
              <a:t>La estabilidad depende del protocolo de medición.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4D6EA"/>
                </a:solidFill>
                <a:latin typeface="Calibri"/>
              </a:rPr>
              <a:t>Además: </a:t>
            </a:r>
            <a:r>
              <a:rPr sz="1350" b="0" i="0">
                <a:solidFill>
                  <a:srgbClr val="C4D6EA"/>
                </a:solidFill>
                <a:latin typeface="Calibri"/>
              </a:rPr>
              <a:t>dos bugs reportables en el PGExplainer de PyTorch Geometric 2.7.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Resultado 1 — estabilidad por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63D"/>
                </a:solidFill>
                <a:latin typeface="Calibri"/>
              </a:rPr>
              <a:t>GAT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810512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810512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73736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7293"/>
                </a:solidFill>
                <a:latin typeface="Calibri"/>
              </a:rPr>
              <a:t>0,780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63D"/>
                </a:solidFill>
                <a:latin typeface="Calibri"/>
              </a:rPr>
              <a:t>GCN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46888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2468880"/>
            <a:ext cx="2845612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39572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7293"/>
                </a:solidFill>
                <a:latin typeface="Calibri"/>
              </a:rPr>
              <a:t>0,778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63D"/>
                </a:solidFill>
                <a:latin typeface="Calibri"/>
              </a:rPr>
              <a:t>GraphSAGE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127248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7440" y="3127248"/>
            <a:ext cx="2688336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30540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9D8F"/>
                </a:solidFill>
                <a:latin typeface="Calibri"/>
              </a:rPr>
              <a:t>0,735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63D"/>
                </a:solidFill>
                <a:latin typeface="Calibri"/>
              </a:rPr>
              <a:t>TAGCN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785615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3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77440" y="3785615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63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712463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3748A"/>
                </a:solidFill>
                <a:latin typeface="Calibri"/>
              </a:rPr>
              <a:t>0,580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26280"/>
            <a:ext cx="6035040" cy="118872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5486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5263D"/>
                </a:solidFill>
                <a:latin typeface="Calibri"/>
              </a:rPr>
              <a:t>GAT y GCN lideran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  (ya no GraphSAGE, que era artefacto).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733"/>
                </a:solidFill>
                <a:latin typeface="Calibri"/>
              </a:rPr>
              <a:t>GAT vs GraphSAGE: </a:t>
            </a:r>
            <a:r>
              <a:rPr sz="1350" b="0" i="0">
                <a:solidFill>
                  <a:srgbClr val="63748A"/>
                </a:solidFill>
                <a:latin typeface="Calibri"/>
              </a:rPr>
              <a:t>no significativo (Wilcoxon p = 0,375).</a:t>
            </a:r>
          </a:p>
        </p:txBody>
      </p:sp>
      <p:pic>
        <p:nvPicPr>
          <p:cNvPr id="23" name="Picture 22" descr="ranking_k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203132"/>
            <a:ext cx="4800600" cy="30003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Resultado 1b — concordancia entre regímenes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La “inversión por densidad” era un artefacto de la métrica.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Corregida, Elliptic (disperso) concuerda con el sintético (denso): GAT/GCN arriba en ambos.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5486400" cy="1874519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C4D6EA"/>
                </a:solidFill>
                <a:latin typeface="Calibri"/>
              </a:rPr>
              <a:t>Correlación de rangos entre regímenes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9534F"/>
                </a:solidFill>
                <a:latin typeface="Cambria"/>
              </a:rPr>
              <a:t>−0,20</a:t>
            </a:r>
            <a:r>
              <a:rPr sz="2800" b="1" i="0">
                <a:solidFill>
                  <a:srgbClr val="FFFFFF"/>
                </a:solidFill>
                <a:latin typeface="Cambria"/>
              </a:rPr>
              <a:t>   →   </a:t>
            </a:r>
            <a:r>
              <a:rPr sz="3400" b="1" i="0">
                <a:solidFill>
                  <a:srgbClr val="E9A23B"/>
                </a:solidFill>
                <a:latin typeface="Cambria"/>
              </a:rPr>
              <a:t>+0,80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4D6EA"/>
                </a:solidFill>
                <a:latin typeface="Calibri"/>
              </a:rPr>
              <a:t>métrica con bug  →  métrica corregida</a:t>
            </a:r>
          </a:p>
        </p:txBody>
      </p:sp>
      <p:pic>
        <p:nvPicPr>
          <p:cNvPr id="10" name="Picture 9" descr="contraste_reg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120640" cy="32003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Resultado 2 — disociación plausibilidad ↔ fidelidad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50" b="1" i="0">
                <a:solidFill>
                  <a:srgbClr val="1C7293"/>
                </a:solidFill>
                <a:latin typeface="Calibri"/>
              </a:rPr>
              <a:t>PGExplainer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 recupera mejor el patrón: plausibilidad 0,80 vs 0,50 (Wilcoxon p ≈ 2,6×10⁻³⁵)…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…pero colapsa en fidelidad: </a:t>
            </a:r>
            <a:r>
              <a:rPr sz="1500" b="1" i="0">
                <a:solidFill>
                  <a:srgbClr val="D9534F"/>
                </a:solidFill>
                <a:latin typeface="Calibri"/>
              </a:rPr>
              <a:t>0,11 vs 0,56 de GNNExplainer.</a:t>
            </a:r>
          </a:p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15263D"/>
                </a:solidFill>
                <a:latin typeface="Calibri"/>
              </a:rPr>
              <a:t>El explicador más “plausible” no es el más fiel.</a:t>
            </a:r>
          </a:p>
        </p:txBody>
      </p:sp>
      <p:pic>
        <p:nvPicPr>
          <p:cNvPr id="6" name="Picture 5" descr="disoci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55096"/>
            <a:ext cx="5212080" cy="3187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Resultado 3 — puente nulo y balanceo irrelevante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Hipótesis central </a:t>
            </a:r>
            <a:r>
              <a:rPr sz="1500" b="1" i="0">
                <a:solidFill>
                  <a:srgbClr val="D9534F"/>
                </a:solidFill>
                <a:latin typeface="Calibri"/>
              </a:rPr>
              <a:t>(estable ⇒ plausible): refutada.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Correlación estabilidad–plausibilidad r = −0,01 (IC 95% incluye el cero).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B2733"/>
                </a:solidFill>
                <a:latin typeface="Calibri"/>
              </a:rPr>
              <a:t>El balanceo es prácticamente irrelevante para las tres dimensiones (η² &lt; 0,02).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 i="1">
                <a:solidFill>
                  <a:srgbClr val="63748A"/>
                </a:solidFill>
                <a:latin typeface="Calibri"/>
              </a:rPr>
              <a:t>Un no-resultado, reportado con honestidad como resultado.</a:t>
            </a:r>
          </a:p>
        </p:txBody>
      </p:sp>
      <p:pic>
        <p:nvPicPr>
          <p:cNvPr id="6" name="Picture 5" descr="puente_n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2464"/>
            <a:ext cx="5212080" cy="3653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Rendimiento y colapso validación →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C7293"/>
                </a:solidFill>
                <a:latin typeface="Cambria"/>
              </a:rPr>
              <a:t>0,367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3748A"/>
                </a:solidFill>
                <a:latin typeface="Calibri"/>
              </a:rPr>
              <a:t>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→ test  </a:t>
            </a:r>
            <a:r>
              <a:rPr sz="1500" b="1" i="0">
                <a:solidFill>
                  <a:srgbClr val="D9534F"/>
                </a:solidFill>
                <a:latin typeface="Calibri"/>
              </a:rPr>
              <a:t>0,017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231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A9D8F"/>
                </a:solidFill>
                <a:latin typeface="Cambria"/>
              </a:rPr>
              <a:t>0,884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004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3748A"/>
                </a:solidFill>
                <a:latin typeface="Calibri"/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52044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→ test  </a:t>
            </a:r>
            <a:r>
              <a:rPr sz="1500" b="1" i="0">
                <a:solidFill>
                  <a:srgbClr val="D9534F"/>
                </a:solidFill>
                <a:latin typeface="Calibri"/>
              </a:rPr>
              <a:t>0,653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73736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920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263D"/>
                </a:solidFill>
                <a:latin typeface="Calibri"/>
              </a:rPr>
              <a:t>Precision@50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4231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9A23B"/>
                </a:solidFill>
                <a:latin typeface="Cambria"/>
              </a:rPr>
              <a:t>0,657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004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3748A"/>
                </a:solidFill>
                <a:latin typeface="Calibri"/>
              </a:rPr>
              <a:t>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3748A"/>
                </a:solidFill>
                <a:latin typeface="Calibri"/>
              </a:rPr>
              <a:t>→ test  </a:t>
            </a:r>
            <a:r>
              <a:rPr sz="1500" b="1" i="0">
                <a:solidFill>
                  <a:srgbClr val="D9534F"/>
                </a:solidFill>
                <a:latin typeface="Calibri"/>
              </a:rPr>
              <a:t>0,020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11094415" cy="132588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362895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El ROC-AUC es engañoso bajo desbalance extremo</a:t>
            </a:r>
            <a:r>
              <a:rPr sz="1450" b="0" i="0">
                <a:solidFill>
                  <a:srgbClr val="C4D6EA"/>
                </a:solidFill>
                <a:latin typeface="Calibri"/>
              </a:rPr>
              <a:t> (parece bueno en test, pero PR-AUC y precision@k revelan el colapso por shift temporal).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4D6EA"/>
                </a:solidFill>
                <a:latin typeface="Calibri"/>
              </a:rPr>
              <a:t>Por eso la estabilidad se estudia sobre los verdaderos positivos de validación — encuadre declarado.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Matriz de recomendación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3748A"/>
                </a:solidFill>
                <a:latin typeface="Calibri"/>
              </a:rPr>
              <a:t>Objetivo 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3748A"/>
                </a:solidFill>
                <a:latin typeface="Calibri"/>
              </a:rPr>
              <a:t>Configuración recomendada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368296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B2733"/>
                </a:solidFill>
                <a:latin typeface="Calibri"/>
              </a:rPr>
              <a:t>Auditabilidad / estabilidad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05740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7293"/>
                </a:solidFill>
                <a:latin typeface="Cambria"/>
              </a:rPr>
              <a:t>GAT  o  GCN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346704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B2733"/>
                </a:solidFill>
                <a:latin typeface="Calibri"/>
              </a:rPr>
              <a:t>Recuperar el patrón (plausibilidad)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03580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A9D8F"/>
                </a:solidFill>
                <a:latin typeface="Cambria"/>
              </a:rPr>
              <a:t>PGExplainer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14216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32511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14216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B2733"/>
                </a:solidFill>
                <a:latin typeface="Calibri"/>
              </a:rPr>
              <a:t>Fidelidad al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01421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A23B"/>
                </a:solidFill>
                <a:latin typeface="Cambria"/>
              </a:rPr>
              <a:t>GNNExplainer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92624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3035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92624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B2733"/>
                </a:solidFill>
                <a:latin typeface="Calibri"/>
              </a:rPr>
              <a:t>Estabilidad interna del método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992624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534F"/>
                </a:solidFill>
                <a:latin typeface="Cambria"/>
              </a:rPr>
              <a:t>GNNShap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5263D"/>
                </a:solidFill>
                <a:latin typeface="Cambria"/>
              </a:rPr>
              <a:t>Contribuciones y limitaciones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7293"/>
                </a:solidFill>
                <a:latin typeface="Cambria"/>
              </a:rPr>
              <a:t>Contribuciones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709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Estabilidad, plausibilidad y fidelidad son independientes.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Corrección de dos artefactos de evaluación + dos bugs de PGExplainer.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Generador sintético AML con ground-truth por arista.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B2733"/>
                </a:solidFill>
                <a:latin typeface="Calibri"/>
              </a:rPr>
              <a:t>Matriz de recomendación arquitectura–explicador.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>
            <a:noFill/>
          </a:ln>
          <a:effectLst/>
          <a:effectLst>
            <a:outerShdw blurRad="80000" dist="30000" dir="5400000" rotWithShape="0">
              <a:srgbClr val="16324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A23B"/>
                </a:solidFill>
                <a:latin typeface="Cambria"/>
              </a:rPr>
              <a:t>Limitaciones (declaradas)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709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La inferencia más fuerte proviene del eje sintético autoconstruido.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El clasificador colapsa en test (shift temporal).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Una sola semilla de modelo en el eje Elliptic.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3748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8595360" y="4023360"/>
            <a:ext cx="955548" cy="52120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95360" y="4544568"/>
            <a:ext cx="608076" cy="121615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550908" y="4023360"/>
            <a:ext cx="260604" cy="1129284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50908" y="4023360"/>
            <a:ext cx="1216152" cy="608076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811512" y="4631436"/>
            <a:ext cx="955548" cy="52120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11512" y="5152644"/>
            <a:ext cx="694944" cy="52120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67060" y="4631436"/>
            <a:ext cx="781812" cy="781812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03436" y="5673852"/>
            <a:ext cx="1303020" cy="86868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506456" y="4631436"/>
            <a:ext cx="260604" cy="1042416"/>
          </a:xfrm>
          <a:prstGeom prst="line">
            <a:avLst/>
          </a:prstGeom>
          <a:ln w="190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39912" y="4389120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32036" y="3904488"/>
            <a:ext cx="237744" cy="23774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0" y="503377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11612" y="4475988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87584" y="555498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84563" y="5641848"/>
            <a:ext cx="237744" cy="23774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93424" y="5257800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15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84048"/>
            <a:ext cx="10783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Conclusiones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00200"/>
            <a:ext cx="749807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Estabilidad ≠ plausibilidad ≠ fidelidad: el mejor explicador depende del objetivo.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Con la medición corregida, datos reales y sintéticos cuentan una historia coherente (GAT/GCN estables).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E9A23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La estabilidad de una explicación depende del protocolo de evaluación, no solo del método.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A23B"/>
                </a:solidFill>
                <a:latin typeface="Calibri"/>
              </a:rPr>
              <a:t>Trabajo futuro:  </a:t>
            </a:r>
            <a:r>
              <a:rPr sz="1400" b="0" i="0">
                <a:solidFill>
                  <a:srgbClr val="C4D6EA"/>
                </a:solidFill>
                <a:latin typeface="Calibri"/>
              </a:rPr>
              <a:t>Elliptic2, AMLSim, GNNs temporales, GraphSMOTE.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Gracias  ·  Preguntas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4D6EA"/>
                </a:solidFill>
                <a:latin typeface="Calibri"/>
              </a:rPr>
              <a:t>Alejandro Gómez Huertas  ·  Juan Diego Garzón Ovalle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Estabilidad de XAI en GNNs para AML · UTP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A2B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